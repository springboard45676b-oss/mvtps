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6" r:id="rId2"/>
    <p:sldId id="257" r:id="rId3"/>
    <p:sldId id="258" r:id="rId4"/>
    <p:sldId id="259" r:id="rId5"/>
    <p:sldId id="264" r:id="rId6"/>
    <p:sldId id="260" r:id="rId7"/>
    <p:sldId id="261"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17C7395-6639-4DDA-9FF2-9DC0308E7F17}">
          <p14:sldIdLst>
            <p14:sldId id="256"/>
            <p14:sldId id="257"/>
            <p14:sldId id="258"/>
            <p14:sldId id="259"/>
            <p14:sldId id="264"/>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B6FBFA-9DD4-4CDF-8D66-DCE2C94BA6CF}" v="4" dt="2025-05-03T06:53:31.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10"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mmenenwarakhila@outlook.com" userId="d2b44fc83a330479" providerId="LiveId" clId="{26B6FBFA-9DD4-4CDF-8D66-DCE2C94BA6CF}"/>
    <pc:docChg chg="undo custSel addSld modSld sldOrd modSection">
      <pc:chgData name="thammenenwarakhila@outlook.com" userId="d2b44fc83a330479" providerId="LiveId" clId="{26B6FBFA-9DD4-4CDF-8D66-DCE2C94BA6CF}" dt="2025-05-03T06:54:51.987" v="107" actId="403"/>
      <pc:docMkLst>
        <pc:docMk/>
      </pc:docMkLst>
      <pc:sldChg chg="modSp mod modAnim">
        <pc:chgData name="thammenenwarakhila@outlook.com" userId="d2b44fc83a330479" providerId="LiveId" clId="{26B6FBFA-9DD4-4CDF-8D66-DCE2C94BA6CF}" dt="2025-05-01T17:36:59.181" v="6" actId="1076"/>
        <pc:sldMkLst>
          <pc:docMk/>
          <pc:sldMk cId="2767237703" sldId="256"/>
        </pc:sldMkLst>
        <pc:spChg chg="mod">
          <ac:chgData name="thammenenwarakhila@outlook.com" userId="d2b44fc83a330479" providerId="LiveId" clId="{26B6FBFA-9DD4-4CDF-8D66-DCE2C94BA6CF}" dt="2025-05-01T17:36:59.181" v="6" actId="1076"/>
          <ac:spMkLst>
            <pc:docMk/>
            <pc:sldMk cId="2767237703" sldId="256"/>
            <ac:spMk id="2" creationId="{1BE01D51-8A2B-15BD-43CE-330E2E9D032F}"/>
          </ac:spMkLst>
        </pc:spChg>
        <pc:spChg chg="mod">
          <ac:chgData name="thammenenwarakhila@outlook.com" userId="d2b44fc83a330479" providerId="LiveId" clId="{26B6FBFA-9DD4-4CDF-8D66-DCE2C94BA6CF}" dt="2025-05-01T17:36:50.120" v="5" actId="403"/>
          <ac:spMkLst>
            <pc:docMk/>
            <pc:sldMk cId="2767237703" sldId="256"/>
            <ac:spMk id="5" creationId="{4275A207-7C13-0258-097D-4AF3E6DD57D5}"/>
          </ac:spMkLst>
        </pc:spChg>
      </pc:sldChg>
      <pc:sldChg chg="modSp mod">
        <pc:chgData name="thammenenwarakhila@outlook.com" userId="d2b44fc83a330479" providerId="LiveId" clId="{26B6FBFA-9DD4-4CDF-8D66-DCE2C94BA6CF}" dt="2025-05-03T06:54:05.229" v="102" actId="1076"/>
        <pc:sldMkLst>
          <pc:docMk/>
          <pc:sldMk cId="3037631255" sldId="258"/>
        </pc:sldMkLst>
        <pc:spChg chg="mod">
          <ac:chgData name="thammenenwarakhila@outlook.com" userId="d2b44fc83a330479" providerId="LiveId" clId="{26B6FBFA-9DD4-4CDF-8D66-DCE2C94BA6CF}" dt="2025-05-03T06:54:05.229" v="102" actId="1076"/>
          <ac:spMkLst>
            <pc:docMk/>
            <pc:sldMk cId="3037631255" sldId="258"/>
            <ac:spMk id="3" creationId="{70621ED8-15F1-8AA4-0E90-10FA377A10BB}"/>
          </ac:spMkLst>
        </pc:spChg>
        <pc:spChg chg="mod">
          <ac:chgData name="thammenenwarakhila@outlook.com" userId="d2b44fc83a330479" providerId="LiveId" clId="{26B6FBFA-9DD4-4CDF-8D66-DCE2C94BA6CF}" dt="2025-05-01T17:36:23.284" v="3" actId="1076"/>
          <ac:spMkLst>
            <pc:docMk/>
            <pc:sldMk cId="3037631255" sldId="258"/>
            <ac:spMk id="5" creationId="{09112596-13C1-1C71-DC25-973CADE86CEE}"/>
          </ac:spMkLst>
        </pc:spChg>
      </pc:sldChg>
      <pc:sldChg chg="addSp modSp mod">
        <pc:chgData name="thammenenwarakhila@outlook.com" userId="d2b44fc83a330479" providerId="LiveId" clId="{26B6FBFA-9DD4-4CDF-8D66-DCE2C94BA6CF}" dt="2025-05-03T06:53:50.301" v="101" actId="1076"/>
        <pc:sldMkLst>
          <pc:docMk/>
          <pc:sldMk cId="133853636" sldId="259"/>
        </pc:sldMkLst>
        <pc:spChg chg="mod">
          <ac:chgData name="thammenenwarakhila@outlook.com" userId="d2b44fc83a330479" providerId="LiveId" clId="{26B6FBFA-9DD4-4CDF-8D66-DCE2C94BA6CF}" dt="2025-05-03T06:53:50.301" v="101" actId="1076"/>
          <ac:spMkLst>
            <pc:docMk/>
            <pc:sldMk cId="133853636" sldId="259"/>
            <ac:spMk id="3" creationId="{AF5A27F3-DEC8-6495-8592-0CA0FD1434C6}"/>
          </ac:spMkLst>
        </pc:spChg>
        <pc:picChg chg="add mod">
          <ac:chgData name="thammenenwarakhila@outlook.com" userId="d2b44fc83a330479" providerId="LiveId" clId="{26B6FBFA-9DD4-4CDF-8D66-DCE2C94BA6CF}" dt="2025-05-03T06:53:41.751" v="100" actId="1076"/>
          <ac:picMkLst>
            <pc:docMk/>
            <pc:sldMk cId="133853636" sldId="259"/>
            <ac:picMk id="5" creationId="{FD93B550-5A96-C867-D3C1-48C5C9A2458C}"/>
          </ac:picMkLst>
        </pc:picChg>
      </pc:sldChg>
      <pc:sldChg chg="modSp mod">
        <pc:chgData name="thammenenwarakhila@outlook.com" userId="d2b44fc83a330479" providerId="LiveId" clId="{26B6FBFA-9DD4-4CDF-8D66-DCE2C94BA6CF}" dt="2025-05-03T06:54:51.987" v="107" actId="403"/>
        <pc:sldMkLst>
          <pc:docMk/>
          <pc:sldMk cId="1451881122" sldId="260"/>
        </pc:sldMkLst>
        <pc:spChg chg="mod">
          <ac:chgData name="thammenenwarakhila@outlook.com" userId="d2b44fc83a330479" providerId="LiveId" clId="{26B6FBFA-9DD4-4CDF-8D66-DCE2C94BA6CF}" dt="2025-05-03T06:54:51.987" v="107" actId="403"/>
          <ac:spMkLst>
            <pc:docMk/>
            <pc:sldMk cId="1451881122" sldId="260"/>
            <ac:spMk id="3" creationId="{6DADA45C-65C2-5F8D-BE56-612C5CF0414E}"/>
          </ac:spMkLst>
        </pc:spChg>
      </pc:sldChg>
      <pc:sldChg chg="modSp new mod ord">
        <pc:chgData name="thammenenwarakhila@outlook.com" userId="d2b44fc83a330479" providerId="LiveId" clId="{26B6FBFA-9DD4-4CDF-8D66-DCE2C94BA6CF}" dt="2025-05-03T06:49:12.742" v="94" actId="1076"/>
        <pc:sldMkLst>
          <pc:docMk/>
          <pc:sldMk cId="2336854885" sldId="264"/>
        </pc:sldMkLst>
        <pc:spChg chg="mod">
          <ac:chgData name="thammenenwarakhila@outlook.com" userId="d2b44fc83a330479" providerId="LiveId" clId="{26B6FBFA-9DD4-4CDF-8D66-DCE2C94BA6CF}" dt="2025-05-03T06:45:39.195" v="14" actId="1076"/>
          <ac:spMkLst>
            <pc:docMk/>
            <pc:sldMk cId="2336854885" sldId="264"/>
            <ac:spMk id="2" creationId="{58229735-20CB-384D-9CCD-968C4B33121C}"/>
          </ac:spMkLst>
        </pc:spChg>
        <pc:spChg chg="mod">
          <ac:chgData name="thammenenwarakhila@outlook.com" userId="d2b44fc83a330479" providerId="LiveId" clId="{26B6FBFA-9DD4-4CDF-8D66-DCE2C94BA6CF}" dt="2025-05-03T06:49:12.742" v="94" actId="1076"/>
          <ac:spMkLst>
            <pc:docMk/>
            <pc:sldMk cId="2336854885" sldId="264"/>
            <ac:spMk id="3" creationId="{12747C20-4BAD-98EE-70B9-4D38F06563E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787F14-E6CE-4167-A099-E8B36C99B88B}" type="datetimeFigureOut">
              <a:rPr lang="en-IN" smtClean="0"/>
              <a:t>03-05-2025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2D6FAE-CE4B-47D1-B38C-67CE46DA5942}" type="slidenum">
              <a:rPr lang="en-IN" smtClean="0"/>
              <a:t>‹#›</a:t>
            </a:fld>
            <a:endParaRPr lang="en-IN"/>
          </a:p>
        </p:txBody>
      </p:sp>
    </p:spTree>
    <p:extLst>
      <p:ext uri="{BB962C8B-B14F-4D97-AF65-F5344CB8AC3E}">
        <p14:creationId xmlns:p14="http://schemas.microsoft.com/office/powerpoint/2010/main" val="1800361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2D6FAE-CE4B-47D1-B38C-67CE46DA5942}" type="slidenum">
              <a:rPr lang="en-IN" smtClean="0"/>
              <a:t>4</a:t>
            </a:fld>
            <a:endParaRPr lang="en-IN"/>
          </a:p>
        </p:txBody>
      </p:sp>
    </p:spTree>
    <p:extLst>
      <p:ext uri="{BB962C8B-B14F-4D97-AF65-F5344CB8AC3E}">
        <p14:creationId xmlns:p14="http://schemas.microsoft.com/office/powerpoint/2010/main" val="951058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5A02AC-BF41-42D5-AD2B-FB689FE54EC5}"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D566F5-C067-4994-9642-D4297916A31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1834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A02AC-BF41-42D5-AD2B-FB689FE54EC5}"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D566F5-C067-4994-9642-D4297916A314}" type="slidenum">
              <a:rPr lang="en-IN" smtClean="0"/>
              <a:t>‹#›</a:t>
            </a:fld>
            <a:endParaRPr lang="en-IN"/>
          </a:p>
        </p:txBody>
      </p:sp>
    </p:spTree>
    <p:extLst>
      <p:ext uri="{BB962C8B-B14F-4D97-AF65-F5344CB8AC3E}">
        <p14:creationId xmlns:p14="http://schemas.microsoft.com/office/powerpoint/2010/main" val="1423616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A02AC-BF41-42D5-AD2B-FB689FE54EC5}"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D566F5-C067-4994-9642-D4297916A31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67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5A02AC-BF41-42D5-AD2B-FB689FE54EC5}"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D566F5-C067-4994-9642-D4297916A314}" type="slidenum">
              <a:rPr lang="en-IN" smtClean="0"/>
              <a:t>‹#›</a:t>
            </a:fld>
            <a:endParaRPr lang="en-IN"/>
          </a:p>
        </p:txBody>
      </p:sp>
    </p:spTree>
    <p:extLst>
      <p:ext uri="{BB962C8B-B14F-4D97-AF65-F5344CB8AC3E}">
        <p14:creationId xmlns:p14="http://schemas.microsoft.com/office/powerpoint/2010/main" val="4044338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5A02AC-BF41-42D5-AD2B-FB689FE54EC5}" type="datetimeFigureOut">
              <a:rPr lang="en-IN" smtClean="0"/>
              <a:t>03-05-2025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D566F5-C067-4994-9642-D4297916A314}" type="slidenum">
              <a:rPr lang="en-IN" smtClean="0"/>
              <a:t>‹#›</a:t>
            </a:fld>
            <a:endParaRPr lang="en-IN"/>
          </a:p>
        </p:txBody>
      </p:sp>
    </p:spTree>
    <p:extLst>
      <p:ext uri="{BB962C8B-B14F-4D97-AF65-F5344CB8AC3E}">
        <p14:creationId xmlns:p14="http://schemas.microsoft.com/office/powerpoint/2010/main" val="3201361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5A02AC-BF41-42D5-AD2B-FB689FE54EC5}" type="datetimeFigureOut">
              <a:rPr lang="en-IN" smtClean="0"/>
              <a:t>03-05-2025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D566F5-C067-4994-9642-D4297916A314}" type="slidenum">
              <a:rPr lang="en-IN" smtClean="0"/>
              <a:t>‹#›</a:t>
            </a:fld>
            <a:endParaRPr lang="en-IN"/>
          </a:p>
        </p:txBody>
      </p:sp>
    </p:spTree>
    <p:extLst>
      <p:ext uri="{BB962C8B-B14F-4D97-AF65-F5344CB8AC3E}">
        <p14:creationId xmlns:p14="http://schemas.microsoft.com/office/powerpoint/2010/main" val="1358431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B5A02AC-BF41-42D5-AD2B-FB689FE54EC5}" type="datetimeFigureOut">
              <a:rPr lang="en-IN" smtClean="0"/>
              <a:t>03-05-2025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C4D566F5-C067-4994-9642-D4297916A314}" type="slidenum">
              <a:rPr lang="en-IN" smtClean="0"/>
              <a:t>‹#›</a:t>
            </a:fld>
            <a:endParaRPr lang="en-IN"/>
          </a:p>
        </p:txBody>
      </p:sp>
    </p:spTree>
    <p:extLst>
      <p:ext uri="{BB962C8B-B14F-4D97-AF65-F5344CB8AC3E}">
        <p14:creationId xmlns:p14="http://schemas.microsoft.com/office/powerpoint/2010/main" val="1904269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B5A02AC-BF41-42D5-AD2B-FB689FE54EC5}" type="datetimeFigureOut">
              <a:rPr lang="en-IN" smtClean="0"/>
              <a:t>03-05-2025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4D566F5-C067-4994-9642-D4297916A314}" type="slidenum">
              <a:rPr lang="en-IN" smtClean="0"/>
              <a:t>‹#›</a:t>
            </a:fld>
            <a:endParaRPr lang="en-IN"/>
          </a:p>
        </p:txBody>
      </p:sp>
    </p:spTree>
    <p:extLst>
      <p:ext uri="{BB962C8B-B14F-4D97-AF65-F5344CB8AC3E}">
        <p14:creationId xmlns:p14="http://schemas.microsoft.com/office/powerpoint/2010/main" val="4263227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5A02AC-BF41-42D5-AD2B-FB689FE54EC5}"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D566F5-C067-4994-9642-D4297916A314}" type="slidenum">
              <a:rPr lang="en-IN" smtClean="0"/>
              <a:t>‹#›</a:t>
            </a:fld>
            <a:endParaRPr lang="en-IN"/>
          </a:p>
        </p:txBody>
      </p:sp>
    </p:spTree>
    <p:extLst>
      <p:ext uri="{BB962C8B-B14F-4D97-AF65-F5344CB8AC3E}">
        <p14:creationId xmlns:p14="http://schemas.microsoft.com/office/powerpoint/2010/main" val="2169176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A02AC-BF41-42D5-AD2B-FB689FE54EC5}"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D566F5-C067-4994-9642-D4297916A314}" type="slidenum">
              <a:rPr lang="en-IN" smtClean="0"/>
              <a:t>‹#›</a:t>
            </a:fld>
            <a:endParaRPr lang="en-IN"/>
          </a:p>
        </p:txBody>
      </p:sp>
    </p:spTree>
    <p:extLst>
      <p:ext uri="{BB962C8B-B14F-4D97-AF65-F5344CB8AC3E}">
        <p14:creationId xmlns:p14="http://schemas.microsoft.com/office/powerpoint/2010/main" val="144660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A02AC-BF41-42D5-AD2B-FB689FE54EC5}"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D566F5-C067-4994-9642-D4297916A314}" type="slidenum">
              <a:rPr lang="en-IN" smtClean="0"/>
              <a:t>‹#›</a:t>
            </a:fld>
            <a:endParaRPr lang="en-IN"/>
          </a:p>
        </p:txBody>
      </p:sp>
    </p:spTree>
    <p:extLst>
      <p:ext uri="{BB962C8B-B14F-4D97-AF65-F5344CB8AC3E}">
        <p14:creationId xmlns:p14="http://schemas.microsoft.com/office/powerpoint/2010/main" val="263824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B5A02AC-BF41-42D5-AD2B-FB689FE54EC5}" type="datetimeFigureOut">
              <a:rPr lang="en-IN" smtClean="0"/>
              <a:t>03-05-2025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4D566F5-C067-4994-9642-D4297916A31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6934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01D51-8A2B-15BD-43CE-330E2E9D032F}"/>
              </a:ext>
            </a:extLst>
          </p:cNvPr>
          <p:cNvSpPr>
            <a:spLocks noGrp="1"/>
          </p:cNvSpPr>
          <p:nvPr>
            <p:ph type="ctrTitle"/>
          </p:nvPr>
        </p:nvSpPr>
        <p:spPr>
          <a:xfrm>
            <a:off x="812146" y="2302354"/>
            <a:ext cx="10058400" cy="2599781"/>
          </a:xfrm>
        </p:spPr>
        <p:txBody>
          <a:bodyPr>
            <a:normAutofit fontScale="90000"/>
          </a:bodyPr>
          <a:lstStyle/>
          <a:p>
            <a:pPr marL="342900" lvl="0" indent="-342900" algn="ctr">
              <a:lnSpc>
                <a:spcPct val="107000"/>
              </a:lnSpc>
              <a:spcAft>
                <a:spcPts val="800"/>
              </a:spcAft>
              <a:tabLst>
                <a:tab pos="457200" algn="l"/>
              </a:tabLst>
            </a:pP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6700" dirty="0">
                <a:effectLst/>
                <a:latin typeface="Calibri" panose="020F0502020204030204" pitchFamily="34" charset="0"/>
                <a:ea typeface="Times New Roman" panose="02020603050405020304" pitchFamily="18" charset="0"/>
                <a:cs typeface="Times New Roman" panose="02020603050405020304" pitchFamily="18" charset="0"/>
              </a:rPr>
              <a:t>Flip-Flop Word Game</a:t>
            </a:r>
            <a:br>
              <a:rPr lang="en-IN" sz="60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r>
              <a:rPr lang="en-IN" sz="4000" dirty="0">
                <a:effectLst/>
                <a:latin typeface="Calibri" panose="020F0502020204030204" pitchFamily="34" charset="0"/>
                <a:ea typeface="Times New Roman" panose="02020603050405020304" pitchFamily="18" charset="0"/>
                <a:cs typeface="Times New Roman" panose="02020603050405020304" pitchFamily="18" charset="0"/>
              </a:rPr>
              <a:t>Memory-Based Single Player Word Puzzle</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E092479C-B9B9-B596-CF5C-6BAB3EC9EE61}"/>
              </a:ext>
            </a:extLst>
          </p:cNvPr>
          <p:cNvSpPr>
            <a:spLocks noGrp="1"/>
          </p:cNvSpPr>
          <p:nvPr>
            <p:ph type="subTitle" idx="1"/>
          </p:nvPr>
        </p:nvSpPr>
        <p:spPr/>
        <p:txBody>
          <a:bodyPr/>
          <a:lstStyle/>
          <a:p>
            <a:r>
              <a:rPr lang="en-IN" sz="2400" b="1" dirty="0">
                <a:effectLst/>
                <a:latin typeface="Calibri" panose="020F0502020204030204" pitchFamily="34" charset="0"/>
                <a:ea typeface="Times New Roman" panose="02020603050405020304" pitchFamily="18" charset="0"/>
                <a:cs typeface="Times New Roman" panose="02020603050405020304" pitchFamily="18" charset="0"/>
              </a:rPr>
              <a:t>Presented by:</a:t>
            </a:r>
            <a:endParaRPr lang="en-IN" dirty="0"/>
          </a:p>
        </p:txBody>
      </p:sp>
      <p:sp>
        <p:nvSpPr>
          <p:cNvPr id="5" name="TextBox 4">
            <a:extLst>
              <a:ext uri="{FF2B5EF4-FFF2-40B4-BE49-F238E27FC236}">
                <a16:creationId xmlns:a16="http://schemas.microsoft.com/office/drawing/2014/main" id="{4275A207-7C13-0258-097D-4AF3E6DD57D5}"/>
              </a:ext>
            </a:extLst>
          </p:cNvPr>
          <p:cNvSpPr txBox="1"/>
          <p:nvPr/>
        </p:nvSpPr>
        <p:spPr>
          <a:xfrm>
            <a:off x="3569110" y="4365400"/>
            <a:ext cx="6096000" cy="1569660"/>
          </a:xfrm>
          <a:prstGeom prst="rect">
            <a:avLst/>
          </a:prstGeom>
          <a:noFill/>
        </p:spPr>
        <p:txBody>
          <a:bodyPr wrap="square">
            <a:spAutoFit/>
          </a:bodyPr>
          <a:lstStyle/>
          <a:p>
            <a:pPr>
              <a:buNone/>
              <a:tabLst>
                <a:tab pos="2865755" algn="ctr"/>
                <a:tab pos="5731510" algn="r"/>
              </a:tabLst>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Akhila Thammenenwar</a:t>
            </a:r>
          </a:p>
          <a:p>
            <a:pPr>
              <a:buNone/>
              <a:tabLst>
                <a:tab pos="2865755" algn="ctr"/>
                <a:tab pos="5731510" algn="r"/>
              </a:tabLst>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Anjali Talloju</a:t>
            </a:r>
          </a:p>
          <a:p>
            <a:pPr>
              <a:buNone/>
              <a:tabLst>
                <a:tab pos="2865755" algn="ctr"/>
                <a:tab pos="5731510" algn="r"/>
              </a:tabLst>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PranathiSai Kalavagunta</a:t>
            </a:r>
          </a:p>
          <a:p>
            <a:pPr>
              <a:tabLst>
                <a:tab pos="2865755" algn="ctr"/>
                <a:tab pos="5731510" algn="r"/>
              </a:tabLst>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Neha Goute</a:t>
            </a:r>
          </a:p>
        </p:txBody>
      </p:sp>
    </p:spTree>
    <p:extLst>
      <p:ext uri="{BB962C8B-B14F-4D97-AF65-F5344CB8AC3E}">
        <p14:creationId xmlns:p14="http://schemas.microsoft.com/office/powerpoint/2010/main" val="2767237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83271-DA7B-CA4C-1334-A030091FF62E}"/>
              </a:ext>
            </a:extLst>
          </p:cNvPr>
          <p:cNvSpPr>
            <a:spLocks noGrp="1"/>
          </p:cNvSpPr>
          <p:nvPr>
            <p:ph type="title"/>
          </p:nvPr>
        </p:nvSpPr>
        <p:spPr>
          <a:xfrm>
            <a:off x="1096963" y="287338"/>
            <a:ext cx="10058400" cy="2426365"/>
          </a:xfrm>
        </p:spPr>
        <p:txBody>
          <a:bodyPr>
            <a:normAutofit/>
          </a:bodyPr>
          <a:lstStyle/>
          <a:p>
            <a:pPr lvl="0"/>
            <a:r>
              <a:rPr lang="en-IN" dirty="0"/>
              <a:t>Introduction</a:t>
            </a:r>
            <a:br>
              <a:rPr lang="en-IN" dirty="0"/>
            </a:br>
            <a:br>
              <a:rPr lang="en-IN" dirty="0"/>
            </a:br>
            <a:endParaRPr lang="en-IN" dirty="0"/>
          </a:p>
        </p:txBody>
      </p:sp>
      <p:sp>
        <p:nvSpPr>
          <p:cNvPr id="3" name="Content Placeholder 2">
            <a:extLst>
              <a:ext uri="{FF2B5EF4-FFF2-40B4-BE49-F238E27FC236}">
                <a16:creationId xmlns:a16="http://schemas.microsoft.com/office/drawing/2014/main" id="{0610495D-4D03-D1C5-DDF8-F72DF8F65A57}"/>
              </a:ext>
            </a:extLst>
          </p:cNvPr>
          <p:cNvSpPr>
            <a:spLocks noGrp="1"/>
          </p:cNvSpPr>
          <p:nvPr>
            <p:ph idx="1"/>
          </p:nvPr>
        </p:nvSpPr>
        <p:spPr>
          <a:xfrm>
            <a:off x="1185454" y="2409415"/>
            <a:ext cx="4251785" cy="4161247"/>
          </a:xfrm>
        </p:spPr>
        <p:txBody>
          <a:bodyPr>
            <a:normAutofit fontScale="70000" lnSpcReduction="20000"/>
          </a:bodyPr>
          <a:lstStyle/>
          <a:p>
            <a:r>
              <a:rPr lang="en-IN" sz="4000" dirty="0">
                <a:effectLst/>
                <a:latin typeface="Calibri" panose="020F0502020204030204" pitchFamily="34" charset="0"/>
                <a:ea typeface="Times New Roman" panose="02020603050405020304" pitchFamily="18" charset="0"/>
                <a:cs typeface="Times New Roman" panose="02020603050405020304" pitchFamily="18" charset="0"/>
              </a:rPr>
              <a:t>The Flip-Flop Word Game is a memory-based single-player game where the player is challenged to recall and reconstruct words shown briefly in a scrambled format. The goal is to test and enhance the player's short-term memory and attention to detail.</a:t>
            </a:r>
          </a:p>
          <a:p>
            <a:br>
              <a:rPr lang="en-IN" dirty="0"/>
            </a:br>
            <a:r>
              <a:rPr lang="en-IN" dirty="0"/>
              <a:t>.</a:t>
            </a:r>
            <a:br>
              <a:rPr lang="en-IN" dirty="0"/>
            </a:br>
            <a:endParaRPr lang="en-IN" dirty="0"/>
          </a:p>
        </p:txBody>
      </p:sp>
      <p:pic>
        <p:nvPicPr>
          <p:cNvPr id="7" name="Picture 6">
            <a:extLst>
              <a:ext uri="{FF2B5EF4-FFF2-40B4-BE49-F238E27FC236}">
                <a16:creationId xmlns:a16="http://schemas.microsoft.com/office/drawing/2014/main" id="{BBDBBF9A-E765-1E15-4416-EF07AF4D5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4623" y="1846263"/>
            <a:ext cx="4251785" cy="4251785"/>
          </a:xfrm>
          <a:prstGeom prst="rect">
            <a:avLst/>
          </a:prstGeom>
        </p:spPr>
      </p:pic>
    </p:spTree>
    <p:extLst>
      <p:ext uri="{BB962C8B-B14F-4D97-AF65-F5344CB8AC3E}">
        <p14:creationId xmlns:p14="http://schemas.microsoft.com/office/powerpoint/2010/main" val="2736436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C98A0-43C4-504C-4A4C-D7781F1D8B40}"/>
              </a:ext>
            </a:extLst>
          </p:cNvPr>
          <p:cNvSpPr>
            <a:spLocks noGrp="1"/>
          </p:cNvSpPr>
          <p:nvPr>
            <p:ph type="title"/>
          </p:nvPr>
        </p:nvSpPr>
        <p:spPr/>
        <p:txBody>
          <a:bodyPr>
            <a:normAutofit/>
          </a:bodyPr>
          <a:lstStyle/>
          <a:p>
            <a:r>
              <a:rPr lang="en-IN" dirty="0"/>
              <a:t>Abstract</a:t>
            </a:r>
          </a:p>
        </p:txBody>
      </p:sp>
      <p:sp>
        <p:nvSpPr>
          <p:cNvPr id="3" name="Content Placeholder 2">
            <a:extLst>
              <a:ext uri="{FF2B5EF4-FFF2-40B4-BE49-F238E27FC236}">
                <a16:creationId xmlns:a16="http://schemas.microsoft.com/office/drawing/2014/main" id="{70621ED8-15F1-8AA4-0E90-10FA377A10BB}"/>
              </a:ext>
            </a:extLst>
          </p:cNvPr>
          <p:cNvSpPr>
            <a:spLocks noGrp="1"/>
          </p:cNvSpPr>
          <p:nvPr>
            <p:ph idx="1"/>
          </p:nvPr>
        </p:nvSpPr>
        <p:spPr>
          <a:xfrm>
            <a:off x="1097280" y="2311299"/>
            <a:ext cx="10058400" cy="4260098"/>
          </a:xfrm>
        </p:spPr>
        <p:txBody>
          <a:bodyPr/>
          <a:lstStyle/>
          <a:p>
            <a:r>
              <a:rPr lang="en-US" dirty="0"/>
              <a:t>In Flip-Flop Word Game, First, a word will be displayed on the screen for 50 sec and the player has to memorize the word. After 50 sec, the word disappears and reappears but in scrambled order with one letter in each box. The player gets only one minute of time to remember the scrambled order after which it disappears. And now, the player has to write the sequence of the block numbers for the original word i.e., the player has to unscramble and arrange the blocks properly to form the given word and then write the block numbers of the letters when they were scrambled</a:t>
            </a:r>
            <a:endParaRPr lang="en-IN" dirty="0"/>
          </a:p>
        </p:txBody>
      </p:sp>
      <p:sp>
        <p:nvSpPr>
          <p:cNvPr id="5" name="TextBox 4">
            <a:extLst>
              <a:ext uri="{FF2B5EF4-FFF2-40B4-BE49-F238E27FC236}">
                <a16:creationId xmlns:a16="http://schemas.microsoft.com/office/drawing/2014/main" id="{09112596-13C1-1C71-DC25-973CADE86CEE}"/>
              </a:ext>
            </a:extLst>
          </p:cNvPr>
          <p:cNvSpPr txBox="1"/>
          <p:nvPr/>
        </p:nvSpPr>
        <p:spPr>
          <a:xfrm>
            <a:off x="1097280" y="4462480"/>
            <a:ext cx="6961239" cy="1200329"/>
          </a:xfrm>
          <a:prstGeom prst="rect">
            <a:avLst/>
          </a:prstGeom>
          <a:noFill/>
        </p:spPr>
        <p:txBody>
          <a:bodyPr wrap="square">
            <a:spAutoFit/>
          </a:bodyPr>
          <a:lstStyle/>
          <a:p>
            <a:r>
              <a:rPr lang="en-IN" dirty="0"/>
              <a:t>Example : </a:t>
            </a:r>
          </a:p>
          <a:p>
            <a:r>
              <a:rPr lang="en-IN" dirty="0"/>
              <a:t>Given Word: E D U C A T I O N </a:t>
            </a:r>
          </a:p>
          <a:p>
            <a:r>
              <a:rPr lang="en-IN" dirty="0"/>
              <a:t>Scrambled Word : T E O D N A U I C1 2 3 4 5 6 7 8 9(Block number)</a:t>
            </a:r>
          </a:p>
          <a:p>
            <a:r>
              <a:rPr lang="en-IN" dirty="0"/>
              <a:t>Final Answer:2 4 7 9 6 1 8 3 5</a:t>
            </a:r>
          </a:p>
        </p:txBody>
      </p:sp>
    </p:spTree>
    <p:extLst>
      <p:ext uri="{BB962C8B-B14F-4D97-AF65-F5344CB8AC3E}">
        <p14:creationId xmlns:p14="http://schemas.microsoft.com/office/powerpoint/2010/main" val="3037631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F165E-D5CF-2FCE-E082-CC204F6DF7B7}"/>
              </a:ext>
            </a:extLst>
          </p:cNvPr>
          <p:cNvSpPr>
            <a:spLocks noGrp="1"/>
          </p:cNvSpPr>
          <p:nvPr>
            <p:ph type="title"/>
          </p:nvPr>
        </p:nvSpPr>
        <p:spPr>
          <a:xfrm>
            <a:off x="1225100" y="847042"/>
            <a:ext cx="10058400" cy="1450757"/>
          </a:xfrm>
        </p:spPr>
        <p:txBody>
          <a:bodyPr>
            <a:normAutofit fontScale="90000"/>
          </a:bodyPr>
          <a:lstStyle/>
          <a:p>
            <a:pPr>
              <a:lnSpc>
                <a:spcPct val="107000"/>
              </a:lnSpc>
              <a:spcAft>
                <a:spcPts val="800"/>
              </a:spcAft>
            </a:pPr>
            <a:r>
              <a:rPr lang="en-IN" b="1" dirty="0">
                <a:effectLst/>
                <a:latin typeface="Calibri" panose="020F0502020204030204" pitchFamily="34" charset="0"/>
                <a:ea typeface="Times New Roman" panose="02020603050405020304" pitchFamily="18" charset="0"/>
                <a:cs typeface="Times New Roman" panose="02020603050405020304" pitchFamily="18" charset="0"/>
              </a:rPr>
              <a:t>Literature Survey</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F5A27F3-DEC8-6495-8592-0CA0FD1434C6}"/>
              </a:ext>
            </a:extLst>
          </p:cNvPr>
          <p:cNvSpPr>
            <a:spLocks noGrp="1"/>
          </p:cNvSpPr>
          <p:nvPr>
            <p:ph idx="1"/>
          </p:nvPr>
        </p:nvSpPr>
        <p:spPr>
          <a:xfrm>
            <a:off x="1225100" y="2026914"/>
            <a:ext cx="5559158" cy="6145162"/>
          </a:xfrm>
        </p:spPr>
        <p:txBody>
          <a:bodyPr>
            <a:normAutofit/>
          </a:bodyPr>
          <a:lstStyle/>
          <a:p>
            <a:pPr>
              <a:lnSpc>
                <a:spcPct val="107000"/>
              </a:lnSpc>
              <a:spcAft>
                <a:spcPts val="800"/>
              </a:spcAft>
              <a:buNone/>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Several word and memory games exist like Scrabble, Wordle, and Memory Match that test vocabulary or memory skills. However, most do not combine time-based visual memory with scrambling and positioning. This game fills that gap by focusing specifically on recalling scrambled visual patterns under pressure.</a:t>
            </a:r>
            <a:endParaRPr lang="en-IN" sz="2400" b="1"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sz="2800" dirty="0"/>
          </a:p>
        </p:txBody>
      </p:sp>
      <p:pic>
        <p:nvPicPr>
          <p:cNvPr id="5" name="Picture 4">
            <a:extLst>
              <a:ext uri="{FF2B5EF4-FFF2-40B4-BE49-F238E27FC236}">
                <a16:creationId xmlns:a16="http://schemas.microsoft.com/office/drawing/2014/main" id="{FD93B550-5A96-C867-D3C1-48C5C9A2458C}"/>
              </a:ext>
            </a:extLst>
          </p:cNvPr>
          <p:cNvPicPr>
            <a:picLocks noChangeAspect="1"/>
          </p:cNvPicPr>
          <p:nvPr/>
        </p:nvPicPr>
        <p:blipFill>
          <a:blip r:embed="rId3"/>
          <a:stretch>
            <a:fillRect/>
          </a:stretch>
        </p:blipFill>
        <p:spPr>
          <a:xfrm>
            <a:off x="6944034" y="2026914"/>
            <a:ext cx="3871452" cy="3871452"/>
          </a:xfrm>
          <a:prstGeom prst="rect">
            <a:avLst/>
          </a:prstGeom>
        </p:spPr>
      </p:pic>
    </p:spTree>
    <p:extLst>
      <p:ext uri="{BB962C8B-B14F-4D97-AF65-F5344CB8AC3E}">
        <p14:creationId xmlns:p14="http://schemas.microsoft.com/office/powerpoint/2010/main" val="133853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29735-20CB-384D-9CCD-968C4B33121C}"/>
              </a:ext>
            </a:extLst>
          </p:cNvPr>
          <p:cNvSpPr>
            <a:spLocks noGrp="1"/>
          </p:cNvSpPr>
          <p:nvPr>
            <p:ph type="title"/>
          </p:nvPr>
        </p:nvSpPr>
        <p:spPr>
          <a:xfrm>
            <a:off x="1066800" y="620900"/>
            <a:ext cx="10058400" cy="1450757"/>
          </a:xfrm>
        </p:spPr>
        <p:txBody>
          <a:bodyPr/>
          <a:lstStyle/>
          <a:p>
            <a:r>
              <a:rPr lang="en-IN" sz="4800" b="1" dirty="0">
                <a:effectLst/>
                <a:latin typeface="Calibri" panose="020F0502020204030204" pitchFamily="34" charset="0"/>
                <a:ea typeface="Times New Roman" panose="02020603050405020304" pitchFamily="18" charset="0"/>
                <a:cs typeface="Times New Roman" panose="02020603050405020304" pitchFamily="18" charset="0"/>
              </a:rPr>
              <a:t>Existing System and its Disadvantage</a:t>
            </a:r>
            <a:br>
              <a:rPr lang="en-IN" sz="4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2747C20-4BAD-98EE-70B9-4D38F06563EA}"/>
              </a:ext>
            </a:extLst>
          </p:cNvPr>
          <p:cNvSpPr>
            <a:spLocks noGrp="1"/>
          </p:cNvSpPr>
          <p:nvPr>
            <p:ph idx="1"/>
          </p:nvPr>
        </p:nvSpPr>
        <p:spPr>
          <a:xfrm>
            <a:off x="1248695" y="2213740"/>
            <a:ext cx="10053485" cy="4023360"/>
          </a:xfrm>
        </p:spPr>
        <p:txBody>
          <a:bodyPr>
            <a:normAutofit/>
          </a:bodyPr>
          <a:lstStyle/>
          <a:p>
            <a:pPr>
              <a:lnSpc>
                <a:spcPct val="107000"/>
              </a:lnSpc>
              <a:spcAft>
                <a:spcPts val="800"/>
              </a:spcAft>
            </a:pP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Existing systems like Scrabble and word puzzles are primarily vocabulary-based and do not emphasize memorizing visual positions or block order. They lack dynamic difficulty adjustment and active timed recall, which reduces the cognitive challenge.</a:t>
            </a:r>
          </a:p>
          <a:p>
            <a:pPr>
              <a:lnSpc>
                <a:spcPct val="107000"/>
              </a:lnSpc>
              <a:spcAft>
                <a:spcPts val="800"/>
              </a:spcAft>
            </a:pPr>
            <a:r>
              <a:rPr lang="en-IN" b="1" i="1" dirty="0">
                <a:effectLst/>
                <a:latin typeface="Calibri" panose="020F0502020204030204" pitchFamily="34" charset="0"/>
                <a:ea typeface="Times New Roman" panose="02020603050405020304" pitchFamily="18" charset="0"/>
                <a:cs typeface="Times New Roman" panose="02020603050405020304" pitchFamily="18" charset="0"/>
              </a:rPr>
              <a:t>Limitations of Existing Systems</a:t>
            </a:r>
          </a:p>
          <a:p>
            <a:pPr marL="742950" lvl="1" indent="-285750">
              <a:lnSpc>
                <a:spcPct val="107000"/>
              </a:lnSpc>
              <a:spcAft>
                <a:spcPts val="800"/>
              </a:spcAft>
              <a:buSzPts val="1000"/>
              <a:buFont typeface="Courier New" panose="02070309020205020404" pitchFamily="49" charset="0"/>
              <a:buChar char="o"/>
              <a:tabLst>
                <a:tab pos="914400" algn="l"/>
              </a:tabLst>
            </a:pPr>
            <a:r>
              <a:rPr lang="en-IN" b="1" dirty="0">
                <a:effectLst/>
                <a:latin typeface="Calibri" panose="020F0502020204030204" pitchFamily="34" charset="0"/>
                <a:ea typeface="Times New Roman" panose="02020603050405020304" pitchFamily="18" charset="0"/>
                <a:cs typeface="Times New Roman" panose="02020603050405020304" pitchFamily="18" charset="0"/>
              </a:rPr>
              <a:t>Mostly vocabulary-based.</a:t>
            </a:r>
          </a:p>
          <a:p>
            <a:pPr marL="742950" lvl="1" indent="-285750">
              <a:lnSpc>
                <a:spcPct val="107000"/>
              </a:lnSpc>
              <a:spcAft>
                <a:spcPts val="800"/>
              </a:spcAft>
              <a:buSzPts val="1000"/>
              <a:buFont typeface="Courier New" panose="02070309020205020404" pitchFamily="49" charset="0"/>
              <a:buChar char="o"/>
              <a:tabLst>
                <a:tab pos="914400" algn="l"/>
              </a:tabLst>
            </a:pPr>
            <a:r>
              <a:rPr lang="en-IN" b="1" dirty="0">
                <a:effectLst/>
                <a:latin typeface="Calibri" panose="020F0502020204030204" pitchFamily="34" charset="0"/>
                <a:ea typeface="Times New Roman" panose="02020603050405020304" pitchFamily="18" charset="0"/>
                <a:cs typeface="Times New Roman" panose="02020603050405020304" pitchFamily="18" charset="0"/>
              </a:rPr>
              <a:t>No visual memory focus.</a:t>
            </a:r>
          </a:p>
          <a:p>
            <a:pPr marL="742950" lvl="1" indent="-285750">
              <a:lnSpc>
                <a:spcPct val="107000"/>
              </a:lnSpc>
              <a:spcAft>
                <a:spcPts val="800"/>
              </a:spcAft>
              <a:buSzPts val="1000"/>
              <a:buFont typeface="Courier New" panose="02070309020205020404" pitchFamily="49" charset="0"/>
              <a:buChar char="o"/>
              <a:tabLst>
                <a:tab pos="914400" algn="l"/>
              </a:tabLst>
            </a:pPr>
            <a:r>
              <a:rPr lang="en-IN" b="1" dirty="0">
                <a:effectLst/>
                <a:latin typeface="Calibri" panose="020F0502020204030204" pitchFamily="34" charset="0"/>
                <a:ea typeface="Times New Roman" panose="02020603050405020304" pitchFamily="18" charset="0"/>
                <a:cs typeface="Times New Roman" panose="02020603050405020304" pitchFamily="18" charset="0"/>
              </a:rPr>
              <a:t>Lacks timed difficulty adjustment.</a:t>
            </a:r>
          </a:p>
          <a:p>
            <a:pPr marL="742950" lvl="1" indent="-285750">
              <a:lnSpc>
                <a:spcPct val="107000"/>
              </a:lnSpc>
              <a:spcAft>
                <a:spcPts val="800"/>
              </a:spcAft>
              <a:buSzPts val="1000"/>
              <a:buFont typeface="Courier New" panose="02070309020205020404" pitchFamily="49" charset="0"/>
              <a:buChar char="o"/>
              <a:tabLst>
                <a:tab pos="914400" algn="l"/>
              </a:tabLst>
            </a:pP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p>
            <a:pPr>
              <a:buNone/>
            </a:pPr>
            <a:endParaRPr lang="en-IN" dirty="0">
              <a:effectLst/>
            </a:endParaRPr>
          </a:p>
        </p:txBody>
      </p:sp>
    </p:spTree>
    <p:extLst>
      <p:ext uri="{BB962C8B-B14F-4D97-AF65-F5344CB8AC3E}">
        <p14:creationId xmlns:p14="http://schemas.microsoft.com/office/powerpoint/2010/main" val="2336854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CDE79-7F84-6B6B-F3FD-89BA40CA2112}"/>
              </a:ext>
            </a:extLst>
          </p:cNvPr>
          <p:cNvSpPr>
            <a:spLocks noGrp="1"/>
          </p:cNvSpPr>
          <p:nvPr>
            <p:ph type="title"/>
          </p:nvPr>
        </p:nvSpPr>
        <p:spPr>
          <a:xfrm>
            <a:off x="1036320" y="493081"/>
            <a:ext cx="10058400" cy="1450757"/>
          </a:xfrm>
        </p:spPr>
        <p:txBody>
          <a:bodyPr/>
          <a:lstStyle/>
          <a:p>
            <a:r>
              <a:rPr lang="en-IN" sz="4800" b="1" dirty="0">
                <a:effectLst/>
                <a:latin typeface="Calibri" panose="020F0502020204030204" pitchFamily="34" charset="0"/>
                <a:ea typeface="Times New Roman" panose="02020603050405020304" pitchFamily="18" charset="0"/>
                <a:cs typeface="Times New Roman" panose="02020603050405020304" pitchFamily="18" charset="0"/>
              </a:rPr>
              <a:t>Proposed System and its Architecture</a:t>
            </a:r>
            <a:br>
              <a:rPr lang="en-IN" sz="4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DADA45C-65C2-5F8D-BE56-612C5CF0414E}"/>
              </a:ext>
            </a:extLst>
          </p:cNvPr>
          <p:cNvSpPr>
            <a:spLocks noGrp="1"/>
          </p:cNvSpPr>
          <p:nvPr>
            <p:ph idx="1"/>
          </p:nvPr>
        </p:nvSpPr>
        <p:spPr>
          <a:xfrm>
            <a:off x="1323422" y="1835902"/>
            <a:ext cx="10058400" cy="4023360"/>
          </a:xfrm>
        </p:spPr>
        <p:txBody>
          <a:bodyPr/>
          <a:lstStyle/>
          <a:p>
            <a:pPr>
              <a:lnSpc>
                <a:spcPct val="107000"/>
              </a:lnSpc>
              <a:spcAft>
                <a:spcPts val="800"/>
              </a:spcAft>
              <a:buNone/>
            </a:pP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The proposed Flip-Flop Word Game architecture includes the following stages:</a:t>
            </a:r>
          </a:p>
          <a:p>
            <a:pPr marL="342900" lvl="0" indent="-342900">
              <a:lnSpc>
                <a:spcPct val="107000"/>
              </a:lnSpc>
              <a:spcAft>
                <a:spcPts val="800"/>
              </a:spcAft>
              <a:buFont typeface="+mj-lt"/>
              <a:buAutoNum type="arabicPeriod"/>
              <a:tabLst>
                <a:tab pos="457200" algn="l"/>
              </a:tabLst>
            </a:pPr>
            <a:r>
              <a:rPr lang="en-IN" b="1" dirty="0">
                <a:effectLst/>
                <a:latin typeface="Calibri" panose="020F0502020204030204" pitchFamily="34" charset="0"/>
                <a:ea typeface="Times New Roman" panose="02020603050405020304" pitchFamily="18" charset="0"/>
                <a:cs typeface="Times New Roman" panose="02020603050405020304" pitchFamily="18" charset="0"/>
              </a:rPr>
              <a:t>Display Phase</a:t>
            </a:r>
            <a:r>
              <a:rPr lang="en-IN"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Show the original word for 50 seconds.</a:t>
            </a:r>
          </a:p>
          <a:p>
            <a:pPr marL="342900" lvl="0" indent="-342900">
              <a:lnSpc>
                <a:spcPct val="107000"/>
              </a:lnSpc>
              <a:spcAft>
                <a:spcPts val="800"/>
              </a:spcAft>
              <a:buFont typeface="+mj-lt"/>
              <a:buAutoNum type="arabicPeriod"/>
              <a:tabLst>
                <a:tab pos="457200" algn="l"/>
              </a:tabLst>
            </a:pPr>
            <a:r>
              <a:rPr lang="en-IN" b="1" dirty="0">
                <a:effectLst/>
                <a:latin typeface="Calibri" panose="020F0502020204030204" pitchFamily="34" charset="0"/>
                <a:ea typeface="Times New Roman" panose="02020603050405020304" pitchFamily="18" charset="0"/>
                <a:cs typeface="Times New Roman" panose="02020603050405020304" pitchFamily="18" charset="0"/>
              </a:rPr>
              <a:t>Scramble Phase</a:t>
            </a:r>
            <a:r>
              <a:rPr lang="en-IN"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Shuffle the letters and display them in boxes for 1 minute.</a:t>
            </a:r>
          </a:p>
          <a:p>
            <a:pPr marL="342900" lvl="0" indent="-342900">
              <a:lnSpc>
                <a:spcPct val="107000"/>
              </a:lnSpc>
              <a:spcAft>
                <a:spcPts val="800"/>
              </a:spcAft>
              <a:buFont typeface="+mj-lt"/>
              <a:buAutoNum type="arabicPeriod"/>
              <a:tabLst>
                <a:tab pos="457200" algn="l"/>
              </a:tabLst>
            </a:pPr>
            <a:r>
              <a:rPr lang="en-IN" b="1" dirty="0">
                <a:effectLst/>
                <a:latin typeface="Calibri" panose="020F0502020204030204" pitchFamily="34" charset="0"/>
                <a:ea typeface="Times New Roman" panose="02020603050405020304" pitchFamily="18" charset="0"/>
                <a:cs typeface="Times New Roman" panose="02020603050405020304" pitchFamily="18" charset="0"/>
              </a:rPr>
              <a:t>Recall Phase</a:t>
            </a:r>
            <a:r>
              <a:rPr lang="en-IN"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Hide the letters and ask the player to input the sequence of the original word using the block numbers from the scramble.</a:t>
            </a:r>
          </a:p>
          <a:p>
            <a:pPr>
              <a:lnSpc>
                <a:spcPct val="107000"/>
              </a:lnSpc>
              <a:spcAft>
                <a:spcPts val="800"/>
              </a:spcAft>
            </a:pPr>
            <a:r>
              <a:rPr lang="en-IN" b="1" i="1" dirty="0">
                <a:effectLst/>
                <a:latin typeface="Calibri" panose="020F0502020204030204" pitchFamily="34" charset="0"/>
                <a:ea typeface="Times New Roman" panose="02020603050405020304" pitchFamily="18" charset="0"/>
                <a:cs typeface="Times New Roman" panose="02020603050405020304" pitchFamily="18" charset="0"/>
              </a:rPr>
              <a:t>The game is built using Python with Kivy for cross-platform mobile deployment, especially targeting Android devices.</a:t>
            </a:r>
          </a:p>
          <a:p>
            <a:endParaRPr lang="en-IN" dirty="0"/>
          </a:p>
        </p:txBody>
      </p:sp>
    </p:spTree>
    <p:extLst>
      <p:ext uri="{BB962C8B-B14F-4D97-AF65-F5344CB8AC3E}">
        <p14:creationId xmlns:p14="http://schemas.microsoft.com/office/powerpoint/2010/main" val="1451881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A0CA5-4165-0F76-33C4-9D539190A62E}"/>
              </a:ext>
            </a:extLst>
          </p:cNvPr>
          <p:cNvSpPr>
            <a:spLocks noGrp="1"/>
          </p:cNvSpPr>
          <p:nvPr>
            <p:ph type="title"/>
          </p:nvPr>
        </p:nvSpPr>
        <p:spPr/>
        <p:txBody>
          <a:bodyPr/>
          <a:lstStyle/>
          <a:p>
            <a:r>
              <a:rPr lang="en-IN" sz="4800" b="1" dirty="0">
                <a:effectLst/>
                <a:latin typeface="Calibri" panose="020F0502020204030204" pitchFamily="34" charset="0"/>
                <a:ea typeface="Times New Roman" panose="02020603050405020304" pitchFamily="18" charset="0"/>
                <a:cs typeface="Times New Roman" panose="02020603050405020304" pitchFamily="18" charset="0"/>
              </a:rPr>
              <a:t>Software Stack to be Used</a:t>
            </a:r>
            <a:br>
              <a:rPr lang="en-IN" sz="32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D58C7BA-E413-5EBC-22BD-F4B74492D6FF}"/>
              </a:ext>
            </a:extLst>
          </p:cNvPr>
          <p:cNvSpPr>
            <a:spLocks noGrp="1"/>
          </p:cNvSpPr>
          <p:nvPr>
            <p:ph idx="1"/>
          </p:nvPr>
        </p:nvSpPr>
        <p:spPr>
          <a:xfrm>
            <a:off x="1036320" y="2267717"/>
            <a:ext cx="10058400" cy="3908867"/>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2000" b="1" dirty="0">
                <a:effectLst/>
                <a:latin typeface="Calibri" panose="020F0502020204030204" pitchFamily="34" charset="0"/>
                <a:ea typeface="Times New Roman" panose="02020603050405020304" pitchFamily="18" charset="0"/>
                <a:cs typeface="Times New Roman" panose="02020603050405020304" pitchFamily="18" charset="0"/>
              </a:rPr>
              <a:t>Programming Language</a:t>
            </a: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 Python</a:t>
            </a:r>
          </a:p>
          <a:p>
            <a:pPr marL="342900" lvl="0" indent="-342900">
              <a:lnSpc>
                <a:spcPct val="107000"/>
              </a:lnSpc>
              <a:spcAft>
                <a:spcPts val="800"/>
              </a:spcAft>
              <a:buSzPts val="1000"/>
              <a:buFont typeface="Symbol" panose="05050102010706020507" pitchFamily="18" charset="2"/>
              <a:buChar char=""/>
              <a:tabLst>
                <a:tab pos="457200" algn="l"/>
              </a:tabLst>
            </a:pPr>
            <a:r>
              <a:rPr lang="en-IN" sz="2000" b="1" dirty="0">
                <a:effectLst/>
                <a:latin typeface="Calibri" panose="020F0502020204030204" pitchFamily="34" charset="0"/>
                <a:ea typeface="Times New Roman" panose="02020603050405020304" pitchFamily="18" charset="0"/>
                <a:cs typeface="Times New Roman" panose="02020603050405020304" pitchFamily="18" charset="0"/>
              </a:rPr>
              <a:t>Framework</a:t>
            </a: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 Kivy  (for GUI and Android support)</a:t>
            </a:r>
          </a:p>
          <a:p>
            <a:pPr marL="342900" lvl="0" indent="-342900">
              <a:lnSpc>
                <a:spcPct val="107000"/>
              </a:lnSpc>
              <a:spcAft>
                <a:spcPts val="800"/>
              </a:spcAft>
              <a:buSzPts val="1000"/>
              <a:buFont typeface="Symbol" panose="05050102010706020507" pitchFamily="18" charset="2"/>
              <a:buChar char=""/>
              <a:tabLst>
                <a:tab pos="457200" algn="l"/>
              </a:tabLst>
            </a:pPr>
            <a:r>
              <a:rPr lang="en-IN" sz="2000" b="1" dirty="0">
                <a:effectLst/>
                <a:latin typeface="Calibri" panose="020F0502020204030204" pitchFamily="34" charset="0"/>
                <a:ea typeface="Times New Roman" panose="02020603050405020304" pitchFamily="18" charset="0"/>
                <a:cs typeface="Times New Roman" panose="02020603050405020304" pitchFamily="18" charset="0"/>
              </a:rPr>
              <a:t>Platform</a:t>
            </a: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 Android</a:t>
            </a:r>
          </a:p>
          <a:p>
            <a:pPr marL="342900" lvl="0" indent="-342900">
              <a:lnSpc>
                <a:spcPct val="107000"/>
              </a:lnSpc>
              <a:spcAft>
                <a:spcPts val="800"/>
              </a:spcAft>
              <a:buSzPts val="1000"/>
              <a:buFont typeface="Symbol" panose="05050102010706020507" pitchFamily="18" charset="2"/>
              <a:buChar char=""/>
              <a:tabLst>
                <a:tab pos="457200" algn="l"/>
              </a:tabLst>
            </a:pPr>
            <a:r>
              <a:rPr lang="en-IN" sz="2000" b="1" dirty="0">
                <a:effectLst/>
                <a:latin typeface="Calibri" panose="020F0502020204030204" pitchFamily="34" charset="0"/>
                <a:ea typeface="Times New Roman" panose="02020603050405020304" pitchFamily="18" charset="0"/>
                <a:cs typeface="Times New Roman" panose="02020603050405020304" pitchFamily="18" charset="0"/>
              </a:rPr>
              <a:t>IDE</a:t>
            </a: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 VS Code / Android Studio (via Buildozer for APK generation)</a:t>
            </a:r>
          </a:p>
          <a:p>
            <a:pPr marL="342900" lvl="0" indent="-342900">
              <a:lnSpc>
                <a:spcPct val="107000"/>
              </a:lnSpc>
              <a:spcAft>
                <a:spcPts val="800"/>
              </a:spcAft>
              <a:buSzPts val="1000"/>
              <a:buFont typeface="Symbol" panose="05050102010706020507" pitchFamily="18" charset="2"/>
              <a:buChar char=""/>
              <a:tabLst>
                <a:tab pos="457200" algn="l"/>
              </a:tabLst>
            </a:pPr>
            <a:r>
              <a:rPr lang="en-IN" sz="2000" b="1" dirty="0">
                <a:effectLst/>
                <a:latin typeface="Calibri" panose="020F0502020204030204" pitchFamily="34" charset="0"/>
                <a:ea typeface="Times New Roman" panose="02020603050405020304" pitchFamily="18" charset="0"/>
                <a:cs typeface="Times New Roman" panose="02020603050405020304" pitchFamily="18" charset="0"/>
              </a:rPr>
              <a:t>Libraries</a:t>
            </a: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 Random, Time, Kivy Modules</a:t>
            </a:r>
          </a:p>
          <a:p>
            <a:endParaRPr lang="en-IN" dirty="0"/>
          </a:p>
        </p:txBody>
      </p:sp>
      <p:pic>
        <p:nvPicPr>
          <p:cNvPr id="3074" name="Picture 2">
            <a:extLst>
              <a:ext uri="{FF2B5EF4-FFF2-40B4-BE49-F238E27FC236}">
                <a16:creationId xmlns:a16="http://schemas.microsoft.com/office/drawing/2014/main" id="{719F6BCE-C827-B060-0929-64C7EE9B8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7880" y="2100955"/>
            <a:ext cx="3404403" cy="243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412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456D7-3687-34B7-3031-B813BDC76AE7}"/>
              </a:ext>
            </a:extLst>
          </p:cNvPr>
          <p:cNvSpPr>
            <a:spLocks noGrp="1"/>
          </p:cNvSpPr>
          <p:nvPr>
            <p:ph type="title"/>
          </p:nvPr>
        </p:nvSpPr>
        <p:spPr>
          <a:xfrm>
            <a:off x="1097280" y="709390"/>
            <a:ext cx="10058400" cy="1450757"/>
          </a:xfrm>
        </p:spPr>
        <p:txBody>
          <a:bodyPr/>
          <a:lstStyle/>
          <a:p>
            <a:r>
              <a:rPr lang="en-IN" sz="4800" dirty="0">
                <a:effectLst/>
                <a:latin typeface="Calibri" panose="020F0502020204030204" pitchFamily="34" charset="0"/>
                <a:ea typeface="Times New Roman" panose="02020603050405020304" pitchFamily="18" charset="0"/>
                <a:cs typeface="Times New Roman" panose="02020603050405020304" pitchFamily="18" charset="0"/>
              </a:rPr>
              <a:t>Conclusion</a:t>
            </a:r>
            <a:br>
              <a:rPr lang="en-IN" sz="4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899CE1C-2230-698A-6C31-27C4A6765AC3}"/>
              </a:ext>
            </a:extLst>
          </p:cNvPr>
          <p:cNvSpPr>
            <a:spLocks noGrp="1"/>
          </p:cNvSpPr>
          <p:nvPr>
            <p:ph idx="1"/>
          </p:nvPr>
        </p:nvSpPr>
        <p:spPr>
          <a:xfrm>
            <a:off x="1097280" y="2125250"/>
            <a:ext cx="10058400" cy="4023360"/>
          </a:xfrm>
        </p:spPr>
        <p:txBody>
          <a:bodyPr/>
          <a:lstStyle/>
          <a:p>
            <a:pPr marL="742950" lvl="1" indent="-285750">
              <a:lnSpc>
                <a:spcPct val="107000"/>
              </a:lnSpc>
              <a:spcAft>
                <a:spcPts val="800"/>
              </a:spcAft>
              <a:buSzPts val="1000"/>
              <a:buFont typeface="Courier New" panose="02070309020205020404" pitchFamily="49" charset="0"/>
              <a:buChar char="o"/>
              <a:tabLst>
                <a:tab pos="914400" algn="l"/>
              </a:tabLst>
            </a:pPr>
            <a:r>
              <a:rPr lang="en-IN" sz="2800" dirty="0">
                <a:effectLst/>
                <a:latin typeface="Calibri" panose="020F0502020204030204" pitchFamily="34" charset="0"/>
                <a:ea typeface="Times New Roman" panose="02020603050405020304" pitchFamily="18" charset="0"/>
                <a:cs typeface="Times New Roman" panose="02020603050405020304" pitchFamily="18" charset="0"/>
              </a:rPr>
              <a:t>Combines memory and vocabulary challenge.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800" dirty="0">
                <a:effectLst/>
                <a:latin typeface="Calibri" panose="020F0502020204030204" pitchFamily="34" charset="0"/>
                <a:ea typeface="Times New Roman" panose="02020603050405020304" pitchFamily="18" charset="0"/>
                <a:cs typeface="Times New Roman" panose="02020603050405020304" pitchFamily="18" charset="0"/>
              </a:rPr>
              <a:t>Unique recall-based gameplay.</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800" dirty="0">
                <a:effectLst/>
                <a:latin typeface="Calibri" panose="020F0502020204030204" pitchFamily="34" charset="0"/>
                <a:ea typeface="Times New Roman" panose="02020603050405020304" pitchFamily="18" charset="0"/>
                <a:cs typeface="Times New Roman" panose="02020603050405020304" pitchFamily="18" charset="0"/>
              </a:rPr>
              <a:t>Suitable for Android mobile platforms.</a:t>
            </a:r>
          </a:p>
          <a:p>
            <a:endParaRPr lang="en-IN" dirty="0"/>
          </a:p>
        </p:txBody>
      </p:sp>
    </p:spTree>
    <p:extLst>
      <p:ext uri="{BB962C8B-B14F-4D97-AF65-F5344CB8AC3E}">
        <p14:creationId xmlns:p14="http://schemas.microsoft.com/office/powerpoint/2010/main" val="3170256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FA8C6-CC39-59F8-5798-7906790DBD8D}"/>
              </a:ext>
            </a:extLst>
          </p:cNvPr>
          <p:cNvSpPr>
            <a:spLocks noGrp="1"/>
          </p:cNvSpPr>
          <p:nvPr>
            <p:ph type="title"/>
          </p:nvPr>
        </p:nvSpPr>
        <p:spPr>
          <a:xfrm>
            <a:off x="1136607" y="2587352"/>
            <a:ext cx="10058400" cy="1450757"/>
          </a:xfrm>
        </p:spPr>
        <p:txBody>
          <a:bodyPr>
            <a:normAutofit fontScale="90000"/>
          </a:bodyPr>
          <a:lstStyle/>
          <a:p>
            <a:pPr algn="ctr"/>
            <a:r>
              <a:rPr lang="en-IN" sz="12800" dirty="0">
                <a:effectLst/>
                <a:latin typeface="Calibri" panose="020F0502020204030204" pitchFamily="34" charset="0"/>
                <a:ea typeface="Times New Roman" panose="02020603050405020304" pitchFamily="18" charset="0"/>
                <a:cs typeface="Times New Roman" panose="02020603050405020304" pitchFamily="18" charset="0"/>
              </a:rPr>
              <a:t>Thank You!</a:t>
            </a:r>
            <a:br>
              <a:rPr lang="en-IN" sz="4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9754E8D-8D84-D804-F331-10824FB43192}"/>
              </a:ext>
            </a:extLst>
          </p:cNvPr>
          <p:cNvSpPr>
            <a:spLocks noGrp="1"/>
          </p:cNvSpPr>
          <p:nvPr>
            <p:ph idx="1"/>
          </p:nvPr>
        </p:nvSpPr>
        <p:spPr>
          <a:xfrm>
            <a:off x="1136607" y="3693979"/>
            <a:ext cx="10058400" cy="1861247"/>
          </a:xfrm>
        </p:spPr>
        <p:txBody>
          <a:bodyPr/>
          <a:lstStyle/>
          <a:p>
            <a:pPr marL="0" lvl="0" indent="0" algn="ctr">
              <a:lnSpc>
                <a:spcPct val="107000"/>
              </a:lnSpc>
              <a:spcAft>
                <a:spcPts val="800"/>
              </a:spcAft>
              <a:buSzPts val="1000"/>
              <a:buNone/>
              <a:tabLst>
                <a:tab pos="457200" algn="l"/>
              </a:tabLst>
            </a:pPr>
            <a:r>
              <a:rPr lang="en-IN" sz="2800" dirty="0">
                <a:effectLst/>
                <a:latin typeface="Calibri" panose="020F0502020204030204" pitchFamily="34" charset="0"/>
                <a:ea typeface="Times New Roman" panose="02020603050405020304" pitchFamily="18" charset="0"/>
                <a:cs typeface="Times New Roman" panose="02020603050405020304" pitchFamily="18" charset="0"/>
              </a:rPr>
              <a:t>Questions or Feedback?</a:t>
            </a:r>
          </a:p>
          <a:p>
            <a:endParaRPr lang="en-IN" dirty="0"/>
          </a:p>
        </p:txBody>
      </p:sp>
    </p:spTree>
    <p:extLst>
      <p:ext uri="{BB962C8B-B14F-4D97-AF65-F5344CB8AC3E}">
        <p14:creationId xmlns:p14="http://schemas.microsoft.com/office/powerpoint/2010/main" val="332577118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71</TotalTime>
  <Words>521</Words>
  <Application>Microsoft Office PowerPoint</Application>
  <PresentationFormat>Widescreen</PresentationFormat>
  <Paragraphs>42</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Calibri Light</vt:lpstr>
      <vt:lpstr>Courier New</vt:lpstr>
      <vt:lpstr>Symbol</vt:lpstr>
      <vt:lpstr>Retrospect</vt:lpstr>
      <vt:lpstr>              Flip-Flop Word Game  Memory-Based Single Player Word Puzzle   </vt:lpstr>
      <vt:lpstr>Introduction  </vt:lpstr>
      <vt:lpstr>Abstract</vt:lpstr>
      <vt:lpstr>Literature Survey  </vt:lpstr>
      <vt:lpstr>Existing System and its Disadvantage </vt:lpstr>
      <vt:lpstr>Proposed System and its Architecture </vt:lpstr>
      <vt:lpstr>Software Stack to be Used </vt:lpstr>
      <vt:lpstr>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thammenenwarakhila@outlook.com</dc:creator>
  <cp:lastModifiedBy>thammenenwarakhila@outlook.com</cp:lastModifiedBy>
  <cp:revision>2</cp:revision>
  <dcterms:created xsi:type="dcterms:W3CDTF">2025-05-01T16:35:51Z</dcterms:created>
  <dcterms:modified xsi:type="dcterms:W3CDTF">2025-05-03T06:54:52Z</dcterms:modified>
</cp:coreProperties>
</file>